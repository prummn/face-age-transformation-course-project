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24fe49d4-51e1-9efa-21cb-abd3a031b37f}">
          <p14:sldIdLst>
            <p14:sldId id="256"/>
          </p14:sldIdLst>
        </p14:section>
        <p14:section name="题目理解" id="{3ad89113-78af-96a6-8710-4a399a1723ed}">
          <p14:sldIdLst>
            <p14:sldId id="257"/>
          </p14:sldIdLst>
        </p14:section>
        <p14:section name="同类调研" id="{4dbc2bbe-783e-b1f6-b95d-3f99255ced70}">
          <p14:sldIdLst>
            <p14:sldId id="258"/>
            <p14:sldId id="259"/>
            <p14:sldId id="260"/>
            <p14:sldId id="261"/>
          </p14:sldIdLst>
        </p14:section>
        <p14:section name="需求要点" id="{d6dbf127-6245-3bb9-574c-c7f69296dfa0}">
          <p14:sldIdLst>
            <p14:sldId id="262"/>
            <p14:sldId id="263"/>
          </p14:sldIdLst>
        </p14:section>
        <p14:section name="问题陈述" id="{3aa14df5-51c3-1845-30dd-49abe4cc6fad}">
          <p14:sldIdLst>
            <p14:sldId id="264"/>
            <p14:sldId id="265"/>
          </p14:sldIdLst>
        </p14:section>
        <p14:section name="讨论与计划" id="{08da361c-755f-181e-c794-e9f31c68090c}">
          <p14:sldIdLst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开场：本组题目是基于对抗生成网络的人脸年龄变换系统。今天汇报三件事：题目怎么拆、同类产品和论文调研的结论、据此写出的需求要点和问题陈述，最后列出需要老师确认的几个口径。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题目给了 A 到 E 五步。我们把每一步都落到可观察的输出：A 得到 RGB 图，B 得到对齐人脸和逆变换参数，C 得到年龄估计，D 得到每个目标年龄一张图，E 得到对比图、拼图和导出文件。两个约束：多目标都从原图出发，避免误差累积；B 要保存变换参数，否则 E 无法回贴。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课程要求类似应用、商业简介、论文各 5 个以上，我们分别找了 6、6、9。6 份商业简介和 6 个应用一一对应，是同一批产品的两类资料。产品能力只以官方资料为准，宣传语不当作实测结论。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重点讲前三个。YouCam 和本题最接近，能自动估当前年龄，再用 12 到 70 岁滑条选目标，输出网格图和视频。Fotor 是网页端，格式和尺寸说明清楚，用年龄阶段而不是精确岁数。FaceApp 强调一键和前后对比。补充三个：FaceLab 把估龄和变龄分开；AgingBooth 明确有摄像头入口和自动裁脸；Oldify 用的是年龄差而不是目标年龄。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六个维度。灰字是市场现状，箭头后是我们据此做的需求决定。最重要的两点：年龄控制有四种口径，我们只选一种做主交互；当前年龄估计要单独验收。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九篇论文按环节分组。B 是 MTCNN 和 RetinaFace，课程要求至少两个方案对比，这里正好一对。C 是 DEX 和 Mean-Variance Loss，对应“分类与回归结合”的两种做法。D 有五篇，从 CAAE、Age-cGAN 到 LATS 和 SAM；SAM 能直接指定数值目标年龄，最适合多目标输出，LATS 能改头形，作对照。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共 14 项功能，编号 FR01 到 FR14，后面需求规格说明书、设计和测试用例都沿用这个编号。带星号的两项：图片上传是测试补充，原图回贴要等老师确认 E 的口径。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这些是候选值，不是已达到的结果。等设备和模型定了，组长再统一平衡。特别说明生成耗时和预览帧率分开统计；年龄估计要先区分真实年龄和表观年龄。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这段问题陈述按往年模板《问题陈述样式》的写法：先说用户和系统做什么，再说处理流程，再说异常和边界，最后列出系统分几部分分析设计。右边六部分基本对应 A 到 E 加系统管理，后续概要设计按这六个模块拆。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首版先做一个闭环：单人、拍照、估龄、多目标生成、对比拼图、导出。右边的都是扩展，其中原图回贴如果老师认为属于 E 的必做，就提升到首版。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这四个问题的答案会直接改变技术方案和工作量，想请老师现场确认。第一个最关键：题目说多分类与回归相结合，DEX 是分类后取期望，严格说不是独立回归头，我们两种方案都准备了。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程要求每人对自己负责的功能调研至少两个方案。表里是每个环节的两个候选和下次讨论前要做的验证。分工按模块，组长负责把今天的结论写回需求规格说明书，并建立需求编号到设计模块再到测试用例的追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结束，请老师提问和指导。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人脸年龄变换系统 · 需求调研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2A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85800"/>
            <a:ext cx="566928" cy="566928"/>
          </a:xfrm>
          <a:prstGeom prst="ellipse">
            <a:avLst/>
          </a:prstGeom>
          <a:solidFill>
            <a:srgbClr val="8A7FB8"/>
          </a:solidFill>
          <a:ln w="12700">
            <a:solidFill>
              <a:srgbClr val="8A7FB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685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261872" y="685800"/>
            <a:ext cx="566928" cy="566928"/>
          </a:xfrm>
          <a:prstGeom prst="ellipse">
            <a:avLst/>
          </a:prstGeom>
          <a:solidFill>
            <a:srgbClr val="7466A3"/>
          </a:solidFill>
          <a:ln w="12700">
            <a:solidFill>
              <a:srgbClr val="8A7FB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61872" y="685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975104" y="685800"/>
            <a:ext cx="566928" cy="566928"/>
          </a:xfrm>
          <a:prstGeom prst="ellipse">
            <a:avLst/>
          </a:prstGeom>
          <a:solidFill>
            <a:srgbClr val="5B4B8A"/>
          </a:solidFill>
          <a:ln w="12700">
            <a:solidFill>
              <a:srgbClr val="8A7FB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975104" y="685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688336" y="685800"/>
            <a:ext cx="566928" cy="566928"/>
          </a:xfrm>
          <a:prstGeom prst="ellipse">
            <a:avLst/>
          </a:prstGeom>
          <a:solidFill>
            <a:srgbClr val="4A3D74"/>
          </a:solidFill>
          <a:ln w="12700">
            <a:solidFill>
              <a:srgbClr val="8A7FB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88336" y="685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01568" y="685800"/>
            <a:ext cx="566928" cy="566928"/>
          </a:xfrm>
          <a:prstGeom prst="ellipse">
            <a:avLst/>
          </a:prstGeom>
          <a:solidFill>
            <a:srgbClr val="3A305E"/>
          </a:solidFill>
          <a:ln w="12700">
            <a:solidFill>
              <a:srgbClr val="8A7FB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01568" y="685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80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160520" y="68580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B2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岁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160020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chemeClr val="bg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基于对抗生成网络的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chemeClr val="bg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人脸年龄变换系统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017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需求调研与问题陈述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160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B2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软件工程综合训练 · 课堂讨论汇报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题目拆解：A–E 五步处理链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517904" cy="2514600"/>
          </a:xfrm>
          <a:prstGeom prst="roundRect">
            <a:avLst>
              <a:gd name="adj" fmla="val 4819"/>
            </a:avLst>
          </a:prstGeom>
          <a:solidFill>
            <a:srgbClr val="EEEBF5"/>
          </a:solidFill>
          <a:ln w="12700">
            <a:solidFill>
              <a:srgbClr val="EEEB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252728"/>
            <a:ext cx="457200" cy="457200"/>
          </a:xfrm>
          <a:prstGeom prst="ellipse">
            <a:avLst/>
          </a:prstGeom>
          <a:solidFill>
            <a:srgbClr val="5B4B8A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52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28800"/>
            <a:ext cx="124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获取摄像机图像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423160"/>
            <a:ext cx="124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摄像头预览、拍照、重拍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97180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3172968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原始 RGB 图像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956816" y="2103120"/>
            <a:ext cx="192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›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130552" y="1097280"/>
            <a:ext cx="1517904" cy="2514600"/>
          </a:xfrm>
          <a:prstGeom prst="roundRect">
            <a:avLst>
              <a:gd name="adj" fmla="val 4819"/>
            </a:avLst>
          </a:prstGeom>
          <a:solidFill>
            <a:srgbClr val="EEEBF5"/>
          </a:solidFill>
          <a:ln w="12700">
            <a:solidFill>
              <a:srgbClr val="EEEB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67712" y="1252728"/>
            <a:ext cx="457200" cy="457200"/>
          </a:xfrm>
          <a:prstGeom prst="ellipse">
            <a:avLst/>
          </a:prstGeom>
          <a:solidFill>
            <a:srgbClr val="5B4B8A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267712" y="1252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267712" y="1828800"/>
            <a:ext cx="124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截取人脸图像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267712" y="2423160"/>
            <a:ext cx="124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检测、关键点、裁剪对齐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267712" y="297180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2267712" y="3172968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标准人脸 + 逆变换参数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630168" y="2103120"/>
            <a:ext cx="192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›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3803904" y="1097280"/>
            <a:ext cx="1517904" cy="2514600"/>
          </a:xfrm>
          <a:prstGeom prst="roundRect">
            <a:avLst>
              <a:gd name="adj" fmla="val 4819"/>
            </a:avLst>
          </a:prstGeom>
          <a:solidFill>
            <a:srgbClr val="EEEBF5"/>
          </a:solidFill>
          <a:ln w="12700">
            <a:solidFill>
              <a:srgbClr val="EEEB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41064" y="1252728"/>
            <a:ext cx="457200" cy="457200"/>
          </a:xfrm>
          <a:prstGeom prst="ellipse">
            <a:avLst/>
          </a:prstGeom>
          <a:solidFill>
            <a:srgbClr val="5B4B8A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941064" y="1252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3941064" y="1828800"/>
            <a:ext cx="124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识别当前年龄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941064" y="2423160"/>
            <a:ext cx="124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多分类 + 回归相结合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941064" y="297180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3941064" y="3172968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当前年龄估计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303520" y="2103120"/>
            <a:ext cx="192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›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477256" y="1097280"/>
            <a:ext cx="1517904" cy="2514600"/>
          </a:xfrm>
          <a:prstGeom prst="roundRect">
            <a:avLst>
              <a:gd name="adj" fmla="val 4819"/>
            </a:avLst>
          </a:prstGeom>
          <a:solidFill>
            <a:srgbClr val="F8EBDA"/>
          </a:solidFill>
          <a:ln w="12700">
            <a:solidFill>
              <a:srgbClr val="F8EBD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14416" y="1252728"/>
            <a:ext cx="457200" cy="457200"/>
          </a:xfrm>
          <a:prstGeom prst="ellipse">
            <a:avLst/>
          </a:prstGeom>
          <a:solidFill>
            <a:srgbClr val="E89B3C"/>
          </a:solidFill>
          <a:ln w="12700">
            <a:solidFill>
              <a:srgbClr val="E89B3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614416" y="1252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5614416" y="1828800"/>
            <a:ext cx="124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生成多年龄人脸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614416" y="2423160"/>
            <a:ext cx="124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同一原图生成多个目标年龄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614416" y="297180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5614416" y="3172968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每个目标一张结果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976872" y="2103120"/>
            <a:ext cx="192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›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7150608" y="1097280"/>
            <a:ext cx="1517904" cy="2514600"/>
          </a:xfrm>
          <a:prstGeom prst="roundRect">
            <a:avLst>
              <a:gd name="adj" fmla="val 4819"/>
            </a:avLst>
          </a:prstGeom>
          <a:solidFill>
            <a:srgbClr val="EEEBF5"/>
          </a:solidFill>
          <a:ln w="12700">
            <a:solidFill>
              <a:srgbClr val="EEEBF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287768" y="1252728"/>
            <a:ext cx="457200" cy="457200"/>
          </a:xfrm>
          <a:prstGeom prst="ellipse">
            <a:avLst/>
          </a:prstGeom>
          <a:solidFill>
            <a:srgbClr val="5B4B8A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287768" y="1252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7287768" y="1828800"/>
            <a:ext cx="124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图像合成与后处理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7287768" y="2423160"/>
            <a:ext cx="124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对比、拼图、可选回贴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287768" y="297180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7287768" y="3172968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可查看可导出的成品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关键约束：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所有目标年龄都从同一张原始人脸生成，不级联使用上一步结果；B 必须保存变换参数，E 才能回贴原图。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调研概况：满足课程三项检索要求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892808" cy="2743200"/>
          </a:xfrm>
          <a:prstGeom prst="roundRect">
            <a:avLst>
              <a:gd name="adj" fmla="val 3865"/>
            </a:avLst>
          </a:prstGeom>
          <a:solidFill>
            <a:srgbClr val="EEEBF5"/>
          </a:solidFill>
          <a:ln w="12700">
            <a:solidFill>
              <a:srgbClr val="EEEB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1527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1527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类似应用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68880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要求 ≥5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834640"/>
            <a:ext cx="1527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FaceApp · YouCam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Fotor · FaceLab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AgingBooth · Oldify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9464" y="1097280"/>
            <a:ext cx="1892808" cy="2743200"/>
          </a:xfrm>
          <a:prstGeom prst="roundRect">
            <a:avLst>
              <a:gd name="adj" fmla="val 3865"/>
            </a:avLst>
          </a:prstGeom>
          <a:solidFill>
            <a:srgbClr val="EEEBF5"/>
          </a:solidFill>
          <a:ln w="12700">
            <a:solidFill>
              <a:srgbClr val="EEEB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52344" y="1234440"/>
            <a:ext cx="1527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2752344" y="2148840"/>
            <a:ext cx="1527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商业宣传 / 简介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752344" y="2468880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要求 ≥5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752344" y="2834640"/>
            <a:ext cx="1527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官网、应用商店简介、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官方产品文章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81728" y="1097280"/>
            <a:ext cx="1892808" cy="2743200"/>
          </a:xfrm>
          <a:prstGeom prst="roundRect">
            <a:avLst>
              <a:gd name="adj" fmla="val 3865"/>
            </a:avLst>
          </a:prstGeom>
          <a:solidFill>
            <a:srgbClr val="EEEBF5"/>
          </a:solidFill>
          <a:ln w="12700">
            <a:solidFill>
              <a:srgbClr val="EEEB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64608" y="1234440"/>
            <a:ext cx="1527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</a:t>
            </a:r>
            <a:endParaRPr lang="en-US" sz="5400" dirty="0"/>
          </a:p>
        </p:txBody>
      </p:sp>
      <p:sp>
        <p:nvSpPr>
          <p:cNvPr id="15" name="Text 13"/>
          <p:cNvSpPr txBox="1"/>
          <p:nvPr/>
        </p:nvSpPr>
        <p:spPr>
          <a:xfrm>
            <a:off x="4864608" y="2148840"/>
            <a:ext cx="1527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相关论文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864608" y="2468880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要求 ≥5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864608" y="2834640"/>
            <a:ext cx="1527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人脸检测 · 年龄估计 ·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条件 GAN 年龄生成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93992" y="1097280"/>
            <a:ext cx="1892808" cy="2743200"/>
          </a:xfrm>
          <a:prstGeom prst="roundRect">
            <a:avLst>
              <a:gd name="adj" fmla="val 3865"/>
            </a:avLst>
          </a:prstGeom>
          <a:solidFill>
            <a:srgbClr val="EEEBF5"/>
          </a:solidFill>
          <a:ln w="12700">
            <a:solidFill>
              <a:srgbClr val="EEEB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76872" y="1234440"/>
            <a:ext cx="1527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</a:t>
            </a:r>
            <a:endParaRPr lang="en-US" sz="5400" dirty="0"/>
          </a:p>
        </p:txBody>
      </p:sp>
      <p:sp>
        <p:nvSpPr>
          <p:cNvPr id="20" name="Text 18"/>
          <p:cNvSpPr txBox="1"/>
          <p:nvPr/>
        </p:nvSpPr>
        <p:spPr>
          <a:xfrm>
            <a:off x="6976872" y="2148840"/>
            <a:ext cx="1527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候选功能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976872" y="2468880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要求 ≥5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976872" y="2834640"/>
            <a:ext cx="1527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 项首版核心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 项待课堂确认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0690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证据口径：产品功能只采信开发者官网 / 商店简介；“逼真”“秒出图”等宣传语不作为本项目性能结论。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六个同类应用对比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828800"/>
                <a:gridCol w="1737360"/>
                <a:gridCol w="1600200"/>
                <a:gridCol w="18745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应用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输入与人脸处理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年龄控制方式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输出与交互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对本项目的启发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4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YouCam Makeup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上传自拍；自动检测当前年龄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12–70 岁滑条，可变老/变年轻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单图、前后对比、网格图、MP4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与本题最接近：估龄+目标年龄+多结果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Fotor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网页上传，6 种格式，256–4096 px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儿童/青少年/成年/中年/老年 阶段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生成后下载，多案例展示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格式校验、阶段选择、下载流程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B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FaceApp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自拍人像，一键滤镜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Old / Young / Baby 滤镜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逐步前后对比，直接分享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一键体验、前后对比、身份可辨认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FaceLab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人像编辑类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AI Aging 与 Age Scanner 分开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高级版无水印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估龄与变龄应拆成两个功能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B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AgingBooth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摄像头/相册，自动检测裁脸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即时变老，无精确年龄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前后切换、图库、保存分享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双入口、自动裁脸、离线候选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Oldify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设备摄像头拍照/视频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按年龄差 +10/20/40…/99 年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照片、动态视频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区分“目标年龄”与“增加年数”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B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重点参照：YouCam Makeup、Fotor、FaceApp；补充参照：FaceLab、AgingBooth、Oldify（按公开资料完整度，非实测排名）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从同类产品提炼的共性与差异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05072" cy="1024128"/>
          </a:xfrm>
          <a:prstGeom prst="roundRect">
            <a:avLst>
              <a:gd name="adj" fmla="val 7143"/>
            </a:avLst>
          </a:prstGeom>
          <a:solidFill>
            <a:srgbClr val="EEEBF5"/>
          </a:solidFill>
          <a:ln w="12700">
            <a:solidFill>
              <a:srgbClr val="EEEB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188720"/>
            <a:ext cx="384048" cy="384048"/>
          </a:xfrm>
          <a:prstGeom prst="ellipse">
            <a:avLst/>
          </a:prstGeom>
          <a:solidFill>
            <a:srgbClr val="5B4B8A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115568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408176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自拍/相册上传是主流，少数支持摄像头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664208"/>
            <a:ext cx="3227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题目要求摄像机：摄像头为首版主入口，上传作测试补充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81728" y="1005840"/>
            <a:ext cx="4005072" cy="1024128"/>
          </a:xfrm>
          <a:prstGeom prst="roundRect">
            <a:avLst>
              <a:gd name="adj" fmla="val 7143"/>
            </a:avLst>
          </a:prstGeom>
          <a:solidFill>
            <a:srgbClr val="EEEBF5"/>
          </a:solidFill>
          <a:ln w="12700">
            <a:solidFill>
              <a:srgbClr val="EEEB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18888" y="1188720"/>
            <a:ext cx="384048" cy="384048"/>
          </a:xfrm>
          <a:prstGeom prst="ellipse">
            <a:avLst/>
          </a:prstGeom>
          <a:solidFill>
            <a:srgbClr val="5B4B8A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18888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21808" y="1115568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人脸处理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321808" y="1408176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商业产品普遍隐藏检测与裁剪细节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321808" y="1664208"/>
            <a:ext cx="3227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检测、选脸、裁剪对齐、坐标保存做成独立模块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148840"/>
            <a:ext cx="4005072" cy="1024128"/>
          </a:xfrm>
          <a:prstGeom prst="roundRect">
            <a:avLst>
              <a:gd name="adj" fmla="val 7143"/>
            </a:avLst>
          </a:prstGeom>
          <a:solidFill>
            <a:srgbClr val="EEEBF5"/>
          </a:solidFill>
          <a:ln w="12700">
            <a:solidFill>
              <a:srgbClr val="EEEB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2331720"/>
            <a:ext cx="384048" cy="384048"/>
          </a:xfrm>
          <a:prstGeom prst="ellipse">
            <a:avLst/>
          </a:prstGeom>
          <a:solidFill>
            <a:srgbClr val="5B4B8A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2258568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年龄控制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2551176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滤镜 / 年龄阶段 / 年龄滑条 / 年龄差 四种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2807208"/>
            <a:ext cx="3227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需求写清控制类型，首版只选一种主交互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81728" y="2148840"/>
            <a:ext cx="4005072" cy="1024128"/>
          </a:xfrm>
          <a:prstGeom prst="roundRect">
            <a:avLst>
              <a:gd name="adj" fmla="val 7143"/>
            </a:avLst>
          </a:prstGeom>
          <a:solidFill>
            <a:srgbClr val="EEEBF5"/>
          </a:solidFill>
          <a:ln w="12700">
            <a:solidFill>
              <a:srgbClr val="EEEB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18888" y="2331720"/>
            <a:ext cx="384048" cy="384048"/>
          </a:xfrm>
          <a:prstGeom prst="ellipse">
            <a:avLst/>
          </a:prstGeom>
          <a:solidFill>
            <a:srgbClr val="5B4B8A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18888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321808" y="2258568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当前年龄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321808" y="2551176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只有少数产品公开宣传年龄检测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321808" y="2807208"/>
            <a:ext cx="3227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 独立验收，不用生成结果标签代替估龄准确率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291840"/>
            <a:ext cx="4005072" cy="1024128"/>
          </a:xfrm>
          <a:prstGeom prst="roundRect">
            <a:avLst>
              <a:gd name="adj" fmla="val 7143"/>
            </a:avLst>
          </a:prstGeom>
          <a:solidFill>
            <a:srgbClr val="EEEBF5"/>
          </a:solidFill>
          <a:ln w="12700">
            <a:solidFill>
              <a:srgbClr val="EEEB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" y="3474720"/>
            <a:ext cx="384048" cy="384048"/>
          </a:xfrm>
          <a:prstGeom prst="ellipse">
            <a:avLst/>
          </a:prstGeom>
          <a:solidFill>
            <a:srgbClr val="5B4B8A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436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097280" y="3401568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多年龄输出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097280" y="3694176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前后对比、网格图、年龄时间轴较常见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097280" y="3950208"/>
            <a:ext cx="3227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一次生成多个目标，网格或时间轴展示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81728" y="3291840"/>
            <a:ext cx="4005072" cy="1024128"/>
          </a:xfrm>
          <a:prstGeom prst="roundRect">
            <a:avLst>
              <a:gd name="adj" fmla="val 7143"/>
            </a:avLst>
          </a:prstGeom>
          <a:solidFill>
            <a:srgbClr val="EEEBF5"/>
          </a:solidFill>
          <a:ln w="12700">
            <a:solidFill>
              <a:srgbClr val="EEEBF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18888" y="3474720"/>
            <a:ext cx="384048" cy="384048"/>
          </a:xfrm>
          <a:prstGeom prst="ellipse">
            <a:avLst/>
          </a:prstGeom>
          <a:solidFill>
            <a:srgbClr val="5B4B8A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818888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5321808" y="3401568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隐私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5321808" y="3694176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数据收集与删除声明差异大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5321808" y="3950208"/>
            <a:ext cx="3227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写清临时数据、是否联网、提供一键清除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相关论文：覆盖 B、C、D 三个技术环节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" cy="411480"/>
          </a:xfrm>
          <a:prstGeom prst="ellipse">
            <a:avLst/>
          </a:prstGeom>
          <a:solidFill>
            <a:srgbClr val="5B4B8A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05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0058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人脸检测与对齐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560320" cy="530352"/>
          </a:xfrm>
          <a:prstGeom prst="roundRect">
            <a:avLst>
              <a:gd name="adj" fmla="val 13793"/>
            </a:avLst>
          </a:prstGeom>
          <a:solidFill>
            <a:srgbClr val="EEEBF5"/>
          </a:solidFill>
          <a:ln w="12700">
            <a:solidFill>
              <a:srgbClr val="EEEB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1600200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MTCNN</a:t>
            </a:r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SPL 2016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828800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多任务级联，框+关键点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157984"/>
            <a:ext cx="2560320" cy="530352"/>
          </a:xfrm>
          <a:prstGeom prst="roundRect">
            <a:avLst>
              <a:gd name="adj" fmla="val 13793"/>
            </a:avLst>
          </a:prstGeom>
          <a:solidFill>
            <a:srgbClr val="EEEBF5"/>
          </a:solidFill>
          <a:ln w="12700">
            <a:solidFill>
              <a:srgbClr val="EEEB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2203704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RetinaFace</a:t>
            </a:r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arXiv 2019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2432304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单阶段密集定位，复杂场景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1005840"/>
            <a:ext cx="411480" cy="411480"/>
          </a:xfrm>
          <a:prstGeom prst="ellipse">
            <a:avLst/>
          </a:prstGeom>
          <a:solidFill>
            <a:srgbClr val="5B4B8A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91840" y="1005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794760" y="10058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年龄估计（分类+回归）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91840" y="1554480"/>
            <a:ext cx="2560320" cy="530352"/>
          </a:xfrm>
          <a:prstGeom prst="roundRect">
            <a:avLst>
              <a:gd name="adj" fmla="val 13793"/>
            </a:avLst>
          </a:prstGeom>
          <a:solidFill>
            <a:srgbClr val="EEEBF5"/>
          </a:solidFill>
          <a:ln w="12700">
            <a:solidFill>
              <a:srgbClr val="EEEB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01568" y="1600200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DEX</a:t>
            </a:r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ICCVW 2015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401568" y="1828800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分类后对概率取期望得连续年龄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1840" y="2157984"/>
            <a:ext cx="2560320" cy="530352"/>
          </a:xfrm>
          <a:prstGeom prst="roundRect">
            <a:avLst>
              <a:gd name="adj" fmla="val 13793"/>
            </a:avLst>
          </a:prstGeom>
          <a:solidFill>
            <a:srgbClr val="EEEBF5"/>
          </a:solidFill>
          <a:ln w="12700">
            <a:solidFill>
              <a:srgbClr val="EEEB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01568" y="2203704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Mean-Variance</a:t>
            </a:r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CVPR 2018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401568" y="2432304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softmax + 均值 + 方差联合损失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26480" y="1005840"/>
            <a:ext cx="411480" cy="411480"/>
          </a:xfrm>
          <a:prstGeom prst="ellipse">
            <a:avLst/>
          </a:prstGeom>
          <a:solidFill>
            <a:srgbClr val="E89B3C"/>
          </a:solidFill>
          <a:ln w="12700">
            <a:solidFill>
              <a:srgbClr val="E89B3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126480" y="1005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629400" y="10058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GAN 年龄生成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26480" y="1554480"/>
            <a:ext cx="2560320" cy="530352"/>
          </a:xfrm>
          <a:prstGeom prst="roundRect">
            <a:avLst>
              <a:gd name="adj" fmla="val 13793"/>
            </a:avLst>
          </a:prstGeom>
          <a:solidFill>
            <a:srgbClr val="EEEBF5"/>
          </a:solidFill>
          <a:ln w="12700">
            <a:solidFill>
              <a:srgbClr val="EEEBF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36208" y="1600200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CAAE</a:t>
            </a:r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CVPR 2017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236208" y="1828800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条件对抗自编码器，无需配对数据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26480" y="2157984"/>
            <a:ext cx="2560320" cy="530352"/>
          </a:xfrm>
          <a:prstGeom prst="roundRect">
            <a:avLst>
              <a:gd name="adj" fmla="val 13793"/>
            </a:avLst>
          </a:prstGeom>
          <a:solidFill>
            <a:srgbClr val="EEEBF5"/>
          </a:solidFill>
          <a:ln w="12700">
            <a:solidFill>
              <a:srgbClr val="EEEBF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36208" y="2203704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Age-cGAN</a:t>
            </a:r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ICIP 2017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236208" y="2432304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条件 GAN + 身份保持优化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2761488"/>
            <a:ext cx="2560320" cy="530352"/>
          </a:xfrm>
          <a:prstGeom prst="roundRect">
            <a:avLst>
              <a:gd name="adj" fmla="val 13793"/>
            </a:avLst>
          </a:prstGeom>
          <a:solidFill>
            <a:srgbClr val="EEEBF5"/>
          </a:solidFill>
          <a:ln w="12700">
            <a:solidFill>
              <a:srgbClr val="EEEBF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36208" y="2807208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Pyramid GAN</a:t>
            </a:r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CVPR 2018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236208" y="3035808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多尺度金字塔判别器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26480" y="3364992"/>
            <a:ext cx="2560320" cy="530352"/>
          </a:xfrm>
          <a:prstGeom prst="roundRect">
            <a:avLst>
              <a:gd name="adj" fmla="val 13793"/>
            </a:avLst>
          </a:prstGeom>
          <a:solidFill>
            <a:srgbClr val="EEEBF5"/>
          </a:solidFill>
          <a:ln w="12700">
            <a:solidFill>
              <a:srgbClr val="EEEBF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236208" y="3410712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LATS</a:t>
            </a:r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ECCV 2020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236208" y="3639312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0–70 岁全生命周期，含头形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26480" y="3968496"/>
            <a:ext cx="2560320" cy="530352"/>
          </a:xfrm>
          <a:prstGeom prst="roundRect">
            <a:avLst>
              <a:gd name="adj" fmla="val 13793"/>
            </a:avLst>
          </a:prstGeom>
          <a:solidFill>
            <a:srgbClr val="EEEBF5"/>
          </a:solidFill>
          <a:ln w="12700">
            <a:solidFill>
              <a:srgbClr val="EEEBF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236208" y="4014216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SAM</a:t>
            </a:r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TOG 2021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236208" y="4242816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StyleGAN 潜空间，指定数值年龄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2880360"/>
            <a:ext cx="5394960" cy="1097280"/>
          </a:xfrm>
          <a:prstGeom prst="roundRect">
            <a:avLst>
              <a:gd name="adj" fmla="val 6667"/>
            </a:avLst>
          </a:prstGeom>
          <a:solidFill>
            <a:srgbClr val="F8EBDA"/>
          </a:solidFill>
          <a:ln w="12700">
            <a:solidFill>
              <a:srgbClr val="F8EBD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40080" y="29718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选型思路：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B、C 各取两篇作为课程要求的“至少两个方案”对比；D 优先验证 SAM（可指定数值年龄，适合多目标输出），以 LATS 作头形与全生命周期对照。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功能需求要点（按 A–E 归类）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2651760" cy="1572768"/>
          </a:xfrm>
          <a:prstGeom prst="roundRect">
            <a:avLst>
              <a:gd name="adj" fmla="val 4651"/>
            </a:avLst>
          </a:prstGeom>
          <a:solidFill>
            <a:srgbClr val="EEEBF5"/>
          </a:solidFill>
          <a:ln w="12700">
            <a:solidFill>
              <a:srgbClr val="EEEB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1097280"/>
            <a:ext cx="365760" cy="365760"/>
          </a:xfrm>
          <a:prstGeom prst="ellipse">
            <a:avLst/>
          </a:prstGeom>
          <a:solidFill>
            <a:srgbClr val="5B4B8A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1097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采集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85216" y="1554480"/>
            <a:ext cx="2414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FR01 摄像头预览与拍照、重拍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FR02 图片上传与格式校验 *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987552"/>
            <a:ext cx="2651760" cy="1572768"/>
          </a:xfrm>
          <a:prstGeom prst="roundRect">
            <a:avLst>
              <a:gd name="adj" fmla="val 4651"/>
            </a:avLst>
          </a:prstGeom>
          <a:solidFill>
            <a:srgbClr val="EEEBF5"/>
          </a:solidFill>
          <a:ln w="12700">
            <a:solidFill>
              <a:srgbClr val="EEEB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55848" y="1097280"/>
            <a:ext cx="365760" cy="365760"/>
          </a:xfrm>
          <a:prstGeom prst="ellipse">
            <a:avLst/>
          </a:prstGeom>
          <a:solidFill>
            <a:srgbClr val="5B4B8A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55848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813048" y="1097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人脸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374136" y="1554480"/>
            <a:ext cx="2414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FR03 人脸检测（无人脸/多人脸处理）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FR04 裁剪对齐，保存逆变换参数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FR05 输入质量检查（侧脸/模糊/遮挡）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35040" y="987552"/>
            <a:ext cx="2651760" cy="1572768"/>
          </a:xfrm>
          <a:prstGeom prst="roundRect">
            <a:avLst>
              <a:gd name="adj" fmla="val 4651"/>
            </a:avLst>
          </a:prstGeom>
          <a:solidFill>
            <a:srgbClr val="EEEBF5"/>
          </a:solidFill>
          <a:ln w="12700">
            <a:solidFill>
              <a:srgbClr val="EEEB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44768" y="1097280"/>
            <a:ext cx="365760" cy="365760"/>
          </a:xfrm>
          <a:prstGeom prst="ellipse">
            <a:avLst/>
          </a:prstGeom>
          <a:solidFill>
            <a:srgbClr val="5B4B8A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44768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601968" y="1097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估龄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163056" y="1554480"/>
            <a:ext cx="2414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FR06 当前年龄估计：类别分布 + 连续值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FR07 目标年龄选择（单个或多个）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2679192"/>
            <a:ext cx="2651760" cy="1572768"/>
          </a:xfrm>
          <a:prstGeom prst="roundRect">
            <a:avLst>
              <a:gd name="adj" fmla="val 4651"/>
            </a:avLst>
          </a:prstGeom>
          <a:solidFill>
            <a:srgbClr val="F8EBDA"/>
          </a:solidFill>
          <a:ln w="12700">
            <a:solidFill>
              <a:srgbClr val="F8EB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2788920"/>
            <a:ext cx="365760" cy="365760"/>
          </a:xfrm>
          <a:prstGeom prst="ellipse">
            <a:avLst/>
          </a:prstGeom>
          <a:solidFill>
            <a:srgbClr val="E89B3C"/>
          </a:solidFill>
          <a:ln w="12700">
            <a:solidFill>
              <a:srgbClr val="E89B3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6928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2788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85216" y="3246120"/>
            <a:ext cx="2414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FR08 多目标 GAN 生成，单个失败不影响其他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46120" y="2679192"/>
            <a:ext cx="2651760" cy="1572768"/>
          </a:xfrm>
          <a:prstGeom prst="roundRect">
            <a:avLst>
              <a:gd name="adj" fmla="val 4651"/>
            </a:avLst>
          </a:prstGeom>
          <a:solidFill>
            <a:srgbClr val="EEEBF5"/>
          </a:solidFill>
          <a:ln w="12700">
            <a:solidFill>
              <a:srgbClr val="EEEB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55848" y="2788920"/>
            <a:ext cx="365760" cy="365760"/>
          </a:xfrm>
          <a:prstGeom prst="ellipse">
            <a:avLst/>
          </a:prstGeom>
          <a:solidFill>
            <a:srgbClr val="5B4B8A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355848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3813048" y="2788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合成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374136" y="3246120"/>
            <a:ext cx="2414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FR09 原图/结果对比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FR10 带年龄标签的多年龄拼图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FR11 原图回贴与融合 *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FR12 导出与分享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35040" y="2679192"/>
            <a:ext cx="2651760" cy="1572768"/>
          </a:xfrm>
          <a:prstGeom prst="roundRect">
            <a:avLst>
              <a:gd name="adj" fmla="val 4651"/>
            </a:avLst>
          </a:prstGeom>
          <a:solidFill>
            <a:srgbClr val="EEEBF5"/>
          </a:solidFill>
          <a:ln w="12700">
            <a:solidFill>
              <a:srgbClr val="EEEB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44768" y="2788920"/>
            <a:ext cx="365760" cy="365760"/>
          </a:xfrm>
          <a:prstGeom prst="ellipse">
            <a:avLst/>
          </a:prstGeom>
          <a:solidFill>
            <a:srgbClr val="5B4B8A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44768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601968" y="2788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系统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163056" y="3246120"/>
            <a:ext cx="2414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FR13 任务状态与重试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FR14 临时数据一键清除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44348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* 标注项为补充功能或需老师确认，其余为建议首版核心（P0）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非功能需求：候选性能指标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200400"/>
                <a:gridCol w="3566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指标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候选目标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测量方法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摄像头预览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720p 约 20 FPS，拍照反馈 ≤ 1 s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固定设备连续运行 60 秒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人脸检测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清晰正面单人有效检测率 ≥ 95%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≥ 100 张带框样本，另记误检与多人脸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B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年龄估计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MAE ≤ 5 岁（待验证）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按人物划分独立测试集，按年龄段分层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单目标生成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GPU 预热后 P95 ≤ 10 s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≥ 30 次，拆分预处理/推理/后处理耗时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B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4 目标端到端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P95 ≤ 45 s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含检测、估龄、生成、合成全流程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身份保持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人脸特征相似度分布 + 盲评同一人比例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同人/异人样本校准阈值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B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异常处理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约定异常用例全部有反馈、不崩溃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权限拒绝、无人脸、超时、保存失败等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以上为初定目标，确定运行设备、模型和输入尺寸后由组长统一修订，实测需记录 CPU/GPU、显存、模型版本与样本数。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问题陈述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5074920" cy="3611880"/>
          </a:xfrm>
          <a:prstGeom prst="roundRect">
            <a:avLst>
              <a:gd name="adj" fmla="val 2025"/>
            </a:avLst>
          </a:prstGeom>
          <a:solidFill>
            <a:srgbClr val="EEEBF5"/>
          </a:solidFill>
          <a:ln w="12700">
            <a:solidFill>
              <a:srgbClr val="EEEB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1143000"/>
            <a:ext cx="4663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面向希望直观看到自己不同年龄外观的普通用户，以及需要展示人脸年龄变换技术的课程演示人员，本系统提供基于对抗生成网络的人脸年龄变换功能。</a:t>
            </a:r>
            <a:endParaRPr lang="en-US" sz="13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用户通过摄像头拍照（也可上传图片），系统自动检测并截取人脸，采用多分类与回归相结合的方法估计当前年龄；用户选择一个或多个目标年龄后，系统以同一张原始人脸为输入，用 GAN 生成对应年龄的人脸图像，并提供原图对比、多年龄拼图和导出。</a:t>
            </a:r>
            <a:endParaRPr lang="en-US" sz="13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对无摄像头、权限拒绝、无人脸、多人脸、图像质量不足、模型超时和保存失败给出明确提示。结果仅用于年龄外观模拟与技术展示，不作为真实年龄、医学或身份判断。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806440" y="9601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系统分为以下几部分进行分析和设计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06440" y="1371600"/>
            <a:ext cx="365760" cy="365760"/>
          </a:xfrm>
          <a:prstGeom prst="ellipse">
            <a:avLst/>
          </a:prstGeom>
          <a:solidFill>
            <a:srgbClr val="5B4B8A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0644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291072" y="13716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摄像头图像采集与输入校验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06440" y="1901952"/>
            <a:ext cx="365760" cy="365760"/>
          </a:xfrm>
          <a:prstGeom prst="ellipse">
            <a:avLst/>
          </a:prstGeom>
          <a:solidFill>
            <a:srgbClr val="5B4B8A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806440" y="1901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291072" y="190195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人脸检测、裁剪与对齐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06440" y="2432304"/>
            <a:ext cx="365760" cy="365760"/>
          </a:xfrm>
          <a:prstGeom prst="ellipse">
            <a:avLst/>
          </a:prstGeom>
          <a:solidFill>
            <a:srgbClr val="5B4B8A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806440" y="2432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291072" y="243230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分类+回归年龄估计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06440" y="2962656"/>
            <a:ext cx="365760" cy="365760"/>
          </a:xfrm>
          <a:prstGeom prst="ellipse">
            <a:avLst/>
          </a:prstGeom>
          <a:solidFill>
            <a:srgbClr val="E89B3C"/>
          </a:solidFill>
          <a:ln w="12700">
            <a:solidFill>
              <a:srgbClr val="E89B3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806440" y="2962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291072" y="296265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多目标年龄 GAN 生成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06440" y="3493008"/>
            <a:ext cx="365760" cy="365760"/>
          </a:xfrm>
          <a:prstGeom prst="ellipse">
            <a:avLst/>
          </a:prstGeom>
          <a:solidFill>
            <a:srgbClr val="5B4B8A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806440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291072" y="349300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对比、拼图与图像合成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806440" y="4023360"/>
            <a:ext cx="365760" cy="365760"/>
          </a:xfrm>
          <a:prstGeom prst="ellipse">
            <a:avLst/>
          </a:prstGeom>
          <a:solidFill>
            <a:srgbClr val="5B4B8A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806440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291072" y="40233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导出、任务管理与数据清除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建议首版范围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05072" cy="3383280"/>
          </a:xfrm>
          <a:prstGeom prst="roundRect">
            <a:avLst>
              <a:gd name="adj" fmla="val 2162"/>
            </a:avLst>
          </a:prstGeom>
          <a:solidFill>
            <a:srgbClr val="EEEBF5"/>
          </a:solidFill>
          <a:ln w="12700">
            <a:solidFill>
              <a:srgbClr val="EEEB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43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首版必做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00200"/>
            <a:ext cx="354787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单人照片：摄像头拍照后处理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自动检测、裁剪、对齐人脸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分类+回归估计当前年龄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一次生成多个目标年龄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原图对比 + 多年龄拼图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导出图片、清除临时数据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81728" y="1005840"/>
            <a:ext cx="4005072" cy="3383280"/>
          </a:xfrm>
          <a:prstGeom prst="roundRect">
            <a:avLst>
              <a:gd name="adj" fmla="val 2162"/>
            </a:avLst>
          </a:prstGeom>
          <a:solidFill>
            <a:srgbClr val="F8EBDA"/>
          </a:solidFill>
          <a:ln w="12700">
            <a:solidFill>
              <a:srgbClr val="F8EB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10328" y="1143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扩展候选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910328" y="1600200"/>
            <a:ext cx="354787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生成脸回贴原照片（待确认）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多人同时变龄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连续视频实时变龄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MP4 年龄变化动画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历史记录与数据库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美颜、发型、性别变换等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请老师确认的四个口径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EEEBF5"/>
          </a:solidFill>
          <a:ln w="12700">
            <a:solidFill>
              <a:srgbClr val="EEEB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170432"/>
            <a:ext cx="411480" cy="411480"/>
          </a:xfrm>
          <a:prstGeom prst="ellipse">
            <a:avLst/>
          </a:prstGeom>
          <a:solidFill>
            <a:srgbClr val="E89B3C"/>
          </a:solidFill>
          <a:ln w="12700">
            <a:solidFill>
              <a:srgbClr val="E89B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170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107899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分类与回归如何结合？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106070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DEX 的“分类概率取期望”是否满足要求，还是必须有分类头 + 独立回归头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140817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影响：</a:t>
            </a:r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决定年龄模型结构、损失函数和测试指标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EEEBF5"/>
          </a:solidFill>
          <a:ln w="12700">
            <a:solidFill>
              <a:srgbClr val="EEEB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2057400"/>
            <a:ext cx="411480" cy="411480"/>
          </a:xfrm>
          <a:prstGeom prst="ellipse">
            <a:avLst/>
          </a:prstGeom>
          <a:solidFill>
            <a:srgbClr val="E89B3C"/>
          </a:solidFill>
          <a:ln w="12700">
            <a:solidFill>
              <a:srgbClr val="E89B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19659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能否直接用预训练 GAN？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194767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允许集成公开预训练模型（如 SAM），还是必须由小组训练或微调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229514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影响：</a:t>
            </a:r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决定数据集、显卡、训练时间与许可证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761488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EEEBF5"/>
          </a:solidFill>
          <a:ln w="12700">
            <a:solidFill>
              <a:srgbClr val="EEEB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2944368"/>
            <a:ext cx="411480" cy="411480"/>
          </a:xfrm>
          <a:prstGeom prst="ellipse">
            <a:avLst/>
          </a:prstGeom>
          <a:solidFill>
            <a:srgbClr val="E89B3C"/>
          </a:solidFill>
          <a:ln w="12700">
            <a:solidFill>
              <a:srgbClr val="E89B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29443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207008" y="285292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 的“图像合成”指什么？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657600" y="28346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多年龄拼图展示即可，还是必须把生成脸回贴到原照片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3657600" y="31821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影响：</a:t>
            </a:r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回贴需掩膜与融合算法，工作量差别大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648456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EEEBF5"/>
          </a:solidFill>
          <a:ln w="12700">
            <a:solidFill>
              <a:srgbClr val="EEEB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" y="3831336"/>
            <a:ext cx="411480" cy="411480"/>
          </a:xfrm>
          <a:prstGeom prst="ellipse">
            <a:avLst/>
          </a:prstGeom>
          <a:solidFill>
            <a:srgbClr val="E89B3C"/>
          </a:solidFill>
          <a:ln w="12700">
            <a:solidFill>
              <a:srgbClr val="E89B3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1792" y="38313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207008" y="3739896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目标年龄用什么口径？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3657600" y="372160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精确岁数、年龄段还是年龄差；是否必须覆盖儿童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657600" y="40690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影响：</a:t>
            </a:r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决定交互控件、模型条件和数据分布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技术方案候选与下一步分工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828800"/>
                <a:gridCol w="1920240"/>
                <a:gridCol w="34747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环节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方案一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方案二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下次讨论前的验证任务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4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 采集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浏览器 getUserMedia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OpenCV VideoCapture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确定演示形态（网页/本地），统一 RGB 接口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B 人脸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MTCNN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RetinaFace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同一批样例比较召回、误检、关键点与耗时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B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 估龄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DEX 期望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Mean-Variance / 双头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写出两方案的输入、输出、损失与指标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D 生成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SAM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LATS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核对权重、许可证、依赖，跑通最小推理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B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E 合成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逆变换 + 软掩膜羽化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泊松融合 seamlessClone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先做拼图，准备回贴所需数据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657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分工建议（4 人）：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成员一 A/B 与输入质量 · 成员二 C 估龄与评测 · 成员三 D 生成模型 · 成员四 E、界面与集成；组长统一 FR 编号、指标和文档版本。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谢谢老师，请批评指正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期待老师对 Q1–Q4 四个口径的意见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Age">
  <a:themeElements>
    <a:clrScheme name="FaceAge">
      <a:dk1>
        <a:srgbClr val="1F1B2E"/>
      </a:dk1>
      <a:lt1>
        <a:srgbClr val="FFFFFF"/>
      </a:lt1>
      <a:dk2>
        <a:srgbClr val="2A2340"/>
      </a:dk2>
      <a:lt2>
        <a:srgbClr val="EEEBF5"/>
      </a:lt2>
      <a:accent1>
        <a:srgbClr val="5B4B8A"/>
      </a:accent1>
      <a:accent2>
        <a:srgbClr val="E89B3C"/>
      </a:accent2>
      <a:accent3>
        <a:srgbClr val="8A7FB8"/>
      </a:accent3>
      <a:accent4>
        <a:srgbClr val="3C8D7A"/>
      </a:accent4>
      <a:accent5>
        <a:srgbClr val="C4566A"/>
      </a:accent5>
      <a:accent6>
        <a:srgbClr val="6B6880"/>
      </a:accent6>
      <a:hlink>
        <a:srgbClr val="5B4B8A"/>
      </a:hlink>
      <a:folHlink>
        <a:srgbClr val="8A7FB8"/>
      </a:folHlink>
    </a:clrScheme>
    <a:fontScheme name="FaceAge">
      <a:majorFont>
        <a:latin typeface="PingFang SC"/>
        <a:ea typeface="PingFang SC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PingFang SC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基于对抗生成网络的人脸年龄变换系统——需求调研与问题陈述</dc:title>
  <dc:subject>PptxGenJS Presentation</dc:subject>
  <dc:creator>PptxGenJS</dc:creator>
  <cp:lastModifiedBy>PptxGenJS</cp:lastModifiedBy>
  <cp:revision>1</cp:revision>
  <dcterms:created xsi:type="dcterms:W3CDTF">2026-10-21T05:53:57Z</dcterms:created>
  <dcterms:modified xsi:type="dcterms:W3CDTF">2026-10-21T05:53:57Z</dcterms:modified>
</cp:coreProperties>
</file>